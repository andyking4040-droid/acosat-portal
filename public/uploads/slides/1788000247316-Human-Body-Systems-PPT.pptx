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5"/>
  </p:handoutMasterIdLst>
  <p:sldIdLst>
    <p:sldId id="256" r:id="rId2"/>
    <p:sldId id="257" r:id="rId3"/>
    <p:sldId id="268" r:id="rId4"/>
    <p:sldId id="301" r:id="rId5"/>
    <p:sldId id="302" r:id="rId6"/>
    <p:sldId id="269" r:id="rId7"/>
    <p:sldId id="270" r:id="rId8"/>
    <p:sldId id="258" r:id="rId9"/>
    <p:sldId id="271" r:id="rId10"/>
    <p:sldId id="272" r:id="rId11"/>
    <p:sldId id="273" r:id="rId12"/>
    <p:sldId id="259" r:id="rId13"/>
    <p:sldId id="274" r:id="rId14"/>
    <p:sldId id="275" r:id="rId15"/>
    <p:sldId id="303" r:id="rId16"/>
    <p:sldId id="276" r:id="rId17"/>
    <p:sldId id="261" r:id="rId18"/>
    <p:sldId id="277" r:id="rId19"/>
    <p:sldId id="278" r:id="rId20"/>
    <p:sldId id="279" r:id="rId21"/>
    <p:sldId id="262" r:id="rId22"/>
    <p:sldId id="280" r:id="rId23"/>
    <p:sldId id="281" r:id="rId24"/>
    <p:sldId id="282" r:id="rId25"/>
    <p:sldId id="260" r:id="rId26"/>
    <p:sldId id="283" r:id="rId27"/>
    <p:sldId id="284" r:id="rId28"/>
    <p:sldId id="285" r:id="rId29"/>
    <p:sldId id="263" r:id="rId30"/>
    <p:sldId id="286" r:id="rId31"/>
    <p:sldId id="287" r:id="rId32"/>
    <p:sldId id="307" r:id="rId33"/>
    <p:sldId id="288" r:id="rId34"/>
    <p:sldId id="264" r:id="rId35"/>
    <p:sldId id="289" r:id="rId36"/>
    <p:sldId id="290" r:id="rId37"/>
    <p:sldId id="291" r:id="rId38"/>
    <p:sldId id="265" r:id="rId39"/>
    <p:sldId id="292" r:id="rId40"/>
    <p:sldId id="293" r:id="rId41"/>
    <p:sldId id="294" r:id="rId42"/>
    <p:sldId id="266" r:id="rId43"/>
    <p:sldId id="295" r:id="rId44"/>
    <p:sldId id="296" r:id="rId45"/>
    <p:sldId id="305" r:id="rId46"/>
    <p:sldId id="308" r:id="rId47"/>
    <p:sldId id="304" r:id="rId48"/>
    <p:sldId id="297" r:id="rId49"/>
    <p:sldId id="267" r:id="rId50"/>
    <p:sldId id="298" r:id="rId51"/>
    <p:sldId id="299" r:id="rId52"/>
    <p:sldId id="306" r:id="rId53"/>
    <p:sldId id="300" r:id="rId54"/>
  </p:sldIdLst>
  <p:sldSz cx="9144000" cy="6858000" type="screen4x3"/>
  <p:notesSz cx="7086600" cy="90249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225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14788" y="0"/>
            <a:ext cx="3070225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648BB-1152-47C0-82F1-CBFC309C45AD}" type="datetimeFigureOut">
              <a:rPr lang="en-US" smtClean="0"/>
              <a:pPr/>
              <a:t>6/6/2016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72500"/>
            <a:ext cx="3070225" cy="450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14788" y="8572500"/>
            <a:ext cx="3070225" cy="450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154BC-59C0-4624-BB5F-D6F9D68230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0"/>
          <p:cNvSpPr>
            <a:spLocks noGrp="1"/>
          </p:cNvSpPr>
          <p:nvPr>
            <p:ph type="ctrTitle"/>
          </p:nvPr>
        </p:nvSpPr>
        <p:spPr>
          <a:xfrm>
            <a:off x="685800" y="990601"/>
            <a:ext cx="7772400" cy="2609850"/>
          </a:xfrm>
        </p:spPr>
        <p:txBody>
          <a:bodyPr anchor="b" anchorCtr="0">
            <a:noAutofit/>
            <a:scene3d>
              <a:camera prst="orthographicFront"/>
              <a:lightRig rig="soft" dir="t">
                <a:rot lat="0" lon="0" rev="2100000"/>
              </a:lightRig>
            </a:scene3d>
            <a:sp3d prstMaterial="matte">
              <a:bevelT w="38100" h="38100"/>
              <a:contourClr>
                <a:srgbClr val="FFFFFF"/>
              </a:contourClr>
            </a:sp3d>
          </a:bodyPr>
          <a:lstStyle>
            <a:lvl1pPr algn="ctr">
              <a:defRPr lang="en-US" sz="5800" dirty="0" smtClean="0">
                <a:ln w="9525">
                  <a:noFill/>
                </a:ln>
                <a:effectLst>
                  <a:outerShdw blurRad="50800" dist="38100" dir="822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400800" cy="1967089"/>
          </a:xfrm>
        </p:spPr>
        <p:txBody>
          <a:bodyPr>
            <a:normAutofit/>
          </a:bodyPr>
          <a:lstStyle>
            <a:lvl1pPr marL="0" indent="0" algn="ctr">
              <a:buNone/>
              <a:defRPr lang="en-US" sz="3000" b="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8" name="Rectangl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mtClean="0"/>
            </a:lvl1pPr>
          </a:lstStyle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9" name="Rectangle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lang="en-US" smtClean="0"/>
            </a:lvl1pPr>
          </a:lstStyle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lang="en-US" smtClean="0"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722313" y="2685391"/>
            <a:ext cx="7772400" cy="3112843"/>
          </a:xfrm>
        </p:spPr>
        <p:txBody>
          <a:bodyPr anchor="t">
            <a:normAutofit/>
          </a:bodyPr>
          <a:lstStyle>
            <a:lvl1pPr algn="ctr">
              <a:buNone/>
              <a:defRPr lang="en-US" sz="6000" b="1" dirty="0">
                <a:solidFill>
                  <a:schemeClr val="tx2">
                    <a:shade val="85000"/>
                    <a:satMod val="1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722313" y="1128932"/>
            <a:ext cx="7772400" cy="1509712"/>
          </a:xfrm>
        </p:spPr>
        <p:txBody>
          <a:bodyPr anchor="b">
            <a:normAutofit/>
          </a:bodyPr>
          <a:lstStyle>
            <a:lvl1pPr algn="ctr">
              <a:buNone/>
              <a:defRPr lang="en-US" sz="2400" b="0" smtClean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Rectangl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2"/>
                </a:solidFill>
                <a:effectLst>
                  <a:outerShdw blurRad="38100" dist="25400" dir="8220000" algn="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7729" y="1062637"/>
            <a:ext cx="4599432" cy="3977640"/>
          </a:xfrm>
          <a:prstGeom prst="rect">
            <a:avLst/>
          </a:prstGeom>
          <a:solidFill>
            <a:schemeClr val="tx2">
              <a:shade val="15000"/>
            </a:schemeClr>
          </a:solidFill>
          <a:ln w="63500">
            <a:noFill/>
            <a:miter lim="800000"/>
          </a:ln>
          <a:effectLst>
            <a:outerShdw blurRad="63500" dist="25400" dir="7200000" algn="t" rotWithShape="0">
              <a:prstClr val="black">
                <a:alpha val="45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45720" rIns="45720" rtlCol="0" anchor="ctr">
            <a:normAutofit/>
          </a:bodyPr>
          <a:lstStyle/>
          <a:p>
            <a:pPr marL="0" indent="-274320" algn="l">
              <a:buClr>
                <a:schemeClr val="accent1"/>
              </a:buClr>
              <a:buSzPct val="80000"/>
              <a:buFont typeface="Wingdings 2" pitchFamily="18" charset="2"/>
              <a:buNone/>
            </a:pPr>
            <a:endParaRPr lang="en-US" sz="20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5514536" y="4343400"/>
            <a:ext cx="3048000" cy="709858"/>
          </a:xfrm>
        </p:spPr>
        <p:txBody>
          <a:bodyPr anchor="t">
            <a:noAutofit/>
          </a:bodyPr>
          <a:lstStyle>
            <a:lvl1pPr algn="l">
              <a:buNone/>
              <a:defRPr sz="2200" b="1">
                <a:solidFill>
                  <a:schemeClr val="tx2"/>
                </a:solidFill>
                <a:effectLst>
                  <a:outerShdw blurRad="38100" dist="25400" dir="8220000" algn="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pic" idx="1"/>
          </p:nvPr>
        </p:nvSpPr>
        <p:spPr>
          <a:xfrm>
            <a:off x="739645" y="1222657"/>
            <a:ext cx="4575601" cy="3657600"/>
          </a:xfrm>
          <a:solidFill>
            <a:schemeClr val="tx2">
              <a:shade val="75000"/>
            </a:schemeClr>
          </a:solidFill>
          <a:ln w="63500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>
            <a:lvl1pPr>
              <a:buNone/>
              <a:defRPr sz="3200"/>
            </a:lvl1pPr>
          </a:lstStyle>
          <a:p>
            <a:r>
              <a:rPr lang="en-US" sz="2000" dirty="0" smtClean="0"/>
              <a:t>Click icon to add picture</a:t>
            </a:r>
            <a:endParaRPr lang="en-US" sz="2000" dirty="0"/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5514536" y="1371600"/>
            <a:ext cx="3044952" cy="2930086"/>
          </a:xfrm>
        </p:spPr>
        <p:txBody>
          <a:bodyPr bIns="0" anchor="b">
            <a:normAutofit/>
          </a:bodyPr>
          <a:lstStyle>
            <a:lvl1pPr marL="0" marR="0" indent="0" algn="l">
              <a:buFontTx/>
              <a:buNone/>
              <a:defRPr sz="1300">
                <a:solidFill>
                  <a:schemeClr val="tx1">
                    <a:tint val="95000"/>
                  </a:schemeClr>
                </a:solidFill>
              </a:defRPr>
            </a:lvl1pPr>
            <a:lvl2pPr marL="460375" marR="0" indent="-112713">
              <a:buFontTx/>
              <a:buNone/>
              <a:defRPr sz="1200"/>
            </a:lvl2pPr>
            <a:lvl3pPr marL="914400" marR="0" indent="-117475">
              <a:buFontTx/>
              <a:buNone/>
              <a:defRPr sz="1000"/>
            </a:lvl3pPr>
            <a:lvl4pPr marL="1316038" marR="0" indent="-112713">
              <a:buFontTx/>
              <a:buNone/>
              <a:defRPr sz="900"/>
            </a:lvl4pPr>
            <a:lvl5pPr marL="1711325" marR="0" indent="-117475"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 anchor="b" anchorCtr="0">
            <a:normAutofit/>
            <a:scene3d>
              <a:camera prst="orthographicFront"/>
              <a:lightRig rig="soft" dir="t">
                <a:rot lat="0" lon="0" rev="2100000"/>
              </a:lightRig>
            </a:scene3d>
            <a:sp3d prstMaterial="matte">
              <a:bevelT w="38100" h="38100"/>
            </a:sp3d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11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45720" rIns="4572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7" name="Rectangle 2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anchor="b" anchorCtr="0"/>
          <a:lstStyle>
            <a:lvl1pPr>
              <a:defRPr lang="en-US" sz="1200" smtClean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>
            <a:fld id="{037AA50F-52ED-4D15-85ED-D85FACE0B54A}" type="datetimeFigureOut">
              <a:rPr lang="en-US" smtClean="0"/>
              <a:pPr/>
              <a:t>6/6/2016</a:t>
            </a:fld>
            <a:endParaRPr lang="en-US" dirty="0"/>
          </a:p>
        </p:txBody>
      </p:sp>
      <p:sp>
        <p:nvSpPr>
          <p:cNvPr id="1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anchor="b" anchorCtr="0"/>
          <a:lstStyle>
            <a:lvl1pPr algn="ctr">
              <a:defRPr lang="en-US" sz="1200" smtClean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 lang="en-US" dirty="0"/>
          </a:p>
        </p:txBody>
      </p:sp>
      <p:sp>
        <p:nvSpPr>
          <p:cNvPr id="13" name="Rectangle 1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anchor="b" anchorCtr="0"/>
          <a:lstStyle>
            <a:lvl1pPr algn="r">
              <a:defRPr lang="en-US" sz="1200" smtClean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>
            <a:fld id="{103FAB95-D97B-4738-B064-50D8879F32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defPPr>
        <a:defRPr sz="4400">
          <a:solidFill>
            <a:schemeClr val="tx2">
              <a:shade val="85000"/>
              <a:satMod val="150000"/>
            </a:schemeClr>
          </a:solidFill>
          <a:latin typeface="+mj-lt"/>
          <a:ea typeface="+mj-ea"/>
          <a:cs typeface="+mj-cs"/>
        </a:defRPr>
      </a:defPPr>
      <a:lvl1pPr algn="ctr" eaLnBrk="1" hangingPunct="1">
        <a:buNone/>
        <a:defRPr lang="en-US" sz="4800" b="1" strike="noStrike" kern="1200" baseline="0" dirty="0" smtClean="0">
          <a:solidFill>
            <a:schemeClr val="tx2">
              <a:shade val="85000"/>
              <a:satMod val="150000"/>
            </a:schemeClr>
          </a:solidFill>
          <a:effectLst>
            <a:outerShdw blurRad="63500" dist="38100" dir="8220000" algn="tl" rotWithShape="0">
              <a:srgbClr val="000000">
                <a:alpha val="30000"/>
              </a:srgbClr>
            </a:outerShdw>
          </a:effectLst>
          <a:latin typeface="+mj-lt"/>
          <a:ea typeface="+mj-lt"/>
          <a:cs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indent="-274320" algn="l" eaLnBrk="1" hangingPunct="1">
        <a:buClr>
          <a:schemeClr val="accent1"/>
        </a:buClr>
        <a:buSzPct val="80000"/>
        <a:buFont typeface="Wingdings 2" pitchFamily="18" charset="2"/>
        <a:buChar char="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557784" indent="-228600" algn="l" eaLnBrk="1" hangingPunct="1">
        <a:buClr>
          <a:schemeClr val="tx2"/>
        </a:buClr>
        <a:buFont typeface="Wingdings 2" pitchFamily="18" charset="2"/>
        <a:buChar char=""/>
        <a:defRPr sz="2200">
          <a:solidFill>
            <a:schemeClr val="tx1"/>
          </a:solidFill>
          <a:latin typeface="+mn-lt"/>
          <a:ea typeface="+mn-lt"/>
          <a:cs typeface="+mn-lt"/>
        </a:defRPr>
      </a:lvl2pPr>
      <a:lvl3pPr marL="813816" indent="-228600" algn="l" eaLnBrk="1" hangingPunct="1">
        <a:buClr>
          <a:schemeClr val="accent1"/>
        </a:buClr>
        <a:buFont typeface="Wingdings 2" pitchFamily="18" charset="2"/>
        <a:buChar char="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069848" indent="-228600" algn="l" eaLnBrk="1" hangingPunct="1">
        <a:buClr>
          <a:schemeClr val="tx2"/>
        </a:buClr>
        <a:buFont typeface="Wingdings 2" pitchFamily="18" charset="2"/>
        <a:buChar char="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316736" indent="-228600" algn="l" eaLnBrk="1" hangingPunct="1">
        <a:buClr>
          <a:schemeClr val="accent1"/>
        </a:buClr>
        <a:buFont typeface="Wingdings 2" pitchFamily="18" charset="2"/>
        <a:buChar char="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1572768" indent="-228600" algn="l" eaLnBrk="1" hangingPunct="1">
        <a:buClr>
          <a:schemeClr val="tx2"/>
        </a:buClr>
        <a:buFont typeface="Wingdings 2" pitchFamily="18" charset="2"/>
        <a:buChar char=""/>
        <a:defRPr lang="en-US" sz="1600" baseline="0" smtClean="0">
          <a:latin typeface="+mn-lt"/>
        </a:defRPr>
      </a:lvl6pPr>
      <a:lvl7pPr marL="1819656" indent="-228600" algn="l" eaLnBrk="1" hangingPunct="1">
        <a:buClr>
          <a:schemeClr val="accent1"/>
        </a:buClr>
        <a:buFont typeface="Wingdings 2" pitchFamily="18" charset="2"/>
        <a:buChar char=""/>
        <a:defRPr lang="en-US" sz="1600" baseline="0" smtClean="0">
          <a:latin typeface="+mn-lt"/>
        </a:defRPr>
      </a:lvl7pPr>
      <a:lvl8pPr marL="2066544" indent="-228600" algn="l" eaLnBrk="1" hangingPunct="1">
        <a:buClr>
          <a:schemeClr val="tx2"/>
        </a:buClr>
        <a:buFont typeface="Wingdings 2" pitchFamily="18" charset="2"/>
        <a:buChar char=""/>
        <a:defRPr sz="1600" baseline="0">
          <a:latin typeface="+mn-lt"/>
        </a:defRPr>
      </a:lvl8pPr>
      <a:lvl9pPr marL="2313432" indent="-228600" algn="l" eaLnBrk="1" hangingPunct="1">
        <a:buClr>
          <a:schemeClr val="accent1"/>
        </a:buClr>
        <a:buFont typeface="Wingdings 2" pitchFamily="18" charset="2"/>
        <a:buChar char=""/>
        <a:defRPr sz="1400" baseline="0">
          <a:latin typeface="+mn-lt"/>
        </a:defRPr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Human Body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781800" cy="1752600"/>
          </a:xfrm>
        </p:spPr>
        <p:txBody>
          <a:bodyPr/>
          <a:lstStyle/>
          <a:p>
            <a:r>
              <a:rPr lang="en-US" dirty="0" smtClean="0"/>
              <a:t>On-Level Biology Book: Chapters 34 – 39</a:t>
            </a:r>
          </a:p>
          <a:p>
            <a:r>
              <a:rPr lang="en-US" dirty="0" smtClean="0"/>
              <a:t>Pre-AP Biology Book: Chapters 35 - 40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2609850"/>
          </a:xfrm>
        </p:spPr>
        <p:txBody>
          <a:bodyPr/>
          <a:lstStyle/>
          <a:p>
            <a:r>
              <a:rPr lang="en-US" dirty="0" smtClean="0"/>
              <a:t>Digestive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781800" cy="1752600"/>
          </a:xfrm>
        </p:spPr>
        <p:txBody>
          <a:bodyPr/>
          <a:lstStyle/>
          <a:p>
            <a:r>
              <a:rPr lang="en-US" dirty="0" smtClean="0"/>
              <a:t>On-Level Biology Book: Pages 917 – 928</a:t>
            </a:r>
          </a:p>
          <a:p>
            <a:r>
              <a:rPr lang="en-US" dirty="0" smtClean="0"/>
              <a:t>Pre-AP Biology Book: Pages 970 - 984</a:t>
            </a:r>
            <a:endParaRPr lang="en-US" dirty="0"/>
          </a:p>
        </p:txBody>
      </p:sp>
      <p:pic>
        <p:nvPicPr>
          <p:cNvPr id="59394" name="Picture 2" descr="http://www.buzzle.com/images/digestive-system/digestive-system-diagram-blank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326" b="22457"/>
          <a:stretch>
            <a:fillRect/>
          </a:stretch>
        </p:blipFill>
        <p:spPr bwMode="auto">
          <a:xfrm>
            <a:off x="2781300" y="-457200"/>
            <a:ext cx="3581400" cy="35052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5257800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en-US" sz="5400" dirty="0" smtClean="0"/>
              <a:t>The Digestive System converts food into simpler molecules that can be used by cells; absorbs food; eliminates waste</a:t>
            </a:r>
          </a:p>
          <a:p>
            <a:pPr algn="ctr">
              <a:buNone/>
            </a:pPr>
            <a:r>
              <a:rPr lang="en-US" sz="5400" dirty="0" smtClean="0"/>
              <a:t>The entire digestive process takes between 24 and 33 hours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5105400" cy="5943600"/>
          </a:xfrm>
        </p:spPr>
        <p:txBody>
          <a:bodyPr>
            <a:normAutofit/>
          </a:bodyPr>
          <a:lstStyle/>
          <a:p>
            <a:r>
              <a:rPr lang="en-US" dirty="0" smtClean="0"/>
              <a:t>Mouth</a:t>
            </a:r>
          </a:p>
          <a:p>
            <a:pPr lvl="1"/>
            <a:r>
              <a:rPr lang="en-US" dirty="0" smtClean="0"/>
              <a:t>The first stop in the disassembly of your food;  </a:t>
            </a:r>
          </a:p>
          <a:p>
            <a:pPr lvl="1">
              <a:buNone/>
            </a:pPr>
            <a:r>
              <a:rPr lang="en-US" dirty="0" smtClean="0"/>
              <a:t>    Mechanical digestion = chewing and Chemical digestion = enzymes found in saliva</a:t>
            </a:r>
          </a:p>
          <a:p>
            <a:r>
              <a:rPr lang="en-US" dirty="0" smtClean="0"/>
              <a:t>Pharynx (throat)</a:t>
            </a:r>
          </a:p>
          <a:p>
            <a:r>
              <a:rPr lang="en-US" dirty="0" smtClean="0"/>
              <a:t>Epiglottis</a:t>
            </a:r>
          </a:p>
          <a:p>
            <a:pPr lvl="1"/>
            <a:r>
              <a:rPr lang="en-US" dirty="0" smtClean="0"/>
              <a:t>Small flap that closes over the opening of the respiratory system when swallowing, preventing food from entering the airway.</a:t>
            </a:r>
          </a:p>
          <a:p>
            <a:r>
              <a:rPr lang="en-US" dirty="0" smtClean="0"/>
              <a:t>Esophagus</a:t>
            </a:r>
          </a:p>
          <a:p>
            <a:pPr lvl="1"/>
            <a:r>
              <a:rPr lang="en-US" dirty="0" smtClean="0"/>
              <a:t>Muscular tube connecting the mouth to the stomach</a:t>
            </a:r>
          </a:p>
        </p:txBody>
      </p:sp>
      <p:pic>
        <p:nvPicPr>
          <p:cNvPr id="1026" name="Picture 2" descr="https://encrypted-tbn3.google.com/images?q=tbn:ANd9GcQDjPMidGpkt_wbVCJSRvaCF07VfjfPnLaYcVou2PRTr6owIYqW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93972" y="2743200"/>
            <a:ext cx="4250028" cy="4114800"/>
          </a:xfrm>
          <a:prstGeom prst="rect">
            <a:avLst/>
          </a:prstGeom>
          <a:noFill/>
        </p:spPr>
      </p:pic>
      <p:pic>
        <p:nvPicPr>
          <p:cNvPr id="1028" name="Picture 4" descr="http://www.ricancercouncil.org/img/headneck.gif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53000" y="762000"/>
            <a:ext cx="2838450" cy="1866901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914400"/>
            <a:ext cx="5029200" cy="5943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Liver</a:t>
            </a:r>
          </a:p>
          <a:p>
            <a:pPr lvl="1"/>
            <a:r>
              <a:rPr lang="en-US" dirty="0" smtClean="0"/>
              <a:t>Produces bile, a substance that helps break down fats</a:t>
            </a:r>
          </a:p>
          <a:p>
            <a:r>
              <a:rPr lang="en-US" dirty="0" smtClean="0"/>
              <a:t>Gall Bladder</a:t>
            </a:r>
          </a:p>
          <a:p>
            <a:pPr lvl="1"/>
            <a:r>
              <a:rPr lang="en-US" dirty="0" smtClean="0"/>
              <a:t>Stores bile produced by the liver</a:t>
            </a:r>
          </a:p>
          <a:p>
            <a:r>
              <a:rPr lang="en-US" dirty="0" smtClean="0"/>
              <a:t>Stomach</a:t>
            </a:r>
          </a:p>
          <a:p>
            <a:pPr lvl="1"/>
            <a:r>
              <a:rPr lang="en-US" dirty="0" smtClean="0"/>
              <a:t>Muscular pouch like organ where involuntary muscular  churning and chemical digestion occurs</a:t>
            </a:r>
          </a:p>
          <a:p>
            <a:r>
              <a:rPr lang="en-US" dirty="0" smtClean="0"/>
              <a:t>Pancreas</a:t>
            </a:r>
          </a:p>
          <a:p>
            <a:pPr lvl="1"/>
            <a:r>
              <a:rPr lang="en-US" dirty="0" smtClean="0"/>
              <a:t>Secretes enzymes to help break down carbohydrates, proteins and fats</a:t>
            </a:r>
          </a:p>
          <a:p>
            <a:r>
              <a:rPr lang="en-US" dirty="0" smtClean="0"/>
              <a:t>Small Intestine</a:t>
            </a:r>
          </a:p>
          <a:p>
            <a:pPr lvl="1"/>
            <a:r>
              <a:rPr lang="en-US" dirty="0" smtClean="0"/>
              <a:t>Narrow muscular tube where digestion of food is completed with the help of enzymes secreted by the liver and pancreas</a:t>
            </a:r>
          </a:p>
        </p:txBody>
      </p:sp>
      <p:pic>
        <p:nvPicPr>
          <p:cNvPr id="4" name="Picture 2" descr="https://encrypted-tbn3.google.com/images?q=tbn:ANd9GcQDjPMidGpkt_wbVCJSRvaCF07VfjfPnLaYcVou2PRTr6owIYqW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219200"/>
            <a:ext cx="4250028" cy="41148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4495800" cy="59436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Villi</a:t>
            </a:r>
            <a:r>
              <a:rPr lang="en-US" dirty="0" smtClean="0"/>
              <a:t>  (plural: </a:t>
            </a:r>
            <a:r>
              <a:rPr lang="en-US" dirty="0" err="1" smtClean="0"/>
              <a:t>Villus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Little projections in the lining of the small intestine that function in the absorption of digested food</a:t>
            </a:r>
          </a:p>
          <a:p>
            <a:r>
              <a:rPr lang="en-US" dirty="0" smtClean="0"/>
              <a:t>Large Intestine (colon)</a:t>
            </a:r>
          </a:p>
          <a:p>
            <a:pPr lvl="1"/>
            <a:r>
              <a:rPr lang="en-US" dirty="0" smtClean="0"/>
              <a:t>Muscular tube where water and salts are absorbed; material spends 18-24 hours here</a:t>
            </a:r>
          </a:p>
          <a:p>
            <a:r>
              <a:rPr lang="en-US" dirty="0" smtClean="0"/>
              <a:t>Appendix</a:t>
            </a:r>
          </a:p>
          <a:p>
            <a:pPr lvl="1"/>
            <a:r>
              <a:rPr lang="en-US" dirty="0" smtClean="0"/>
              <a:t>Tube like extension off of the large intestine </a:t>
            </a:r>
          </a:p>
          <a:p>
            <a:r>
              <a:rPr lang="en-US" dirty="0" smtClean="0"/>
              <a:t>Rectum</a:t>
            </a:r>
          </a:p>
          <a:p>
            <a:pPr lvl="1"/>
            <a:r>
              <a:rPr lang="en-US" dirty="0" smtClean="0"/>
              <a:t>The last part of the digestive system, feces are eliminated from the rectum through the anus</a:t>
            </a:r>
            <a:endParaRPr lang="en-US" dirty="0"/>
          </a:p>
        </p:txBody>
      </p:sp>
      <p:pic>
        <p:nvPicPr>
          <p:cNvPr id="4" name="Picture 2" descr="https://encrypted-tbn3.google.com/images?q=tbn:ANd9GcQDjPMidGpkt_wbVCJSRvaCF07VfjfPnLaYcVou2PRTr6owIYqW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19600" y="1219200"/>
            <a:ext cx="4250028" cy="41148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Muscular – contains smooth muscle</a:t>
            </a:r>
          </a:p>
          <a:p>
            <a:r>
              <a:rPr lang="en-US" sz="4000" dirty="0" smtClean="0"/>
              <a:t>Nervous – gets signals that control the rate of digestion</a:t>
            </a:r>
          </a:p>
          <a:p>
            <a:r>
              <a:rPr lang="en-US" sz="4000" dirty="0" smtClean="0"/>
              <a:t>Circulatory – broken down food travels through blood vessels to cells</a:t>
            </a:r>
          </a:p>
          <a:p>
            <a:r>
              <a:rPr lang="en-US" sz="4000" dirty="0" smtClean="0"/>
              <a:t>Endocrine – hormones (ex. Insulin) control blood sugar levels</a:t>
            </a:r>
            <a:endParaRPr lang="en-US" sz="4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2609850"/>
          </a:xfrm>
        </p:spPr>
        <p:txBody>
          <a:bodyPr/>
          <a:lstStyle/>
          <a:p>
            <a:r>
              <a:rPr lang="en-US" dirty="0" smtClean="0"/>
              <a:t>Excretory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705600" cy="1752600"/>
          </a:xfrm>
        </p:spPr>
        <p:txBody>
          <a:bodyPr/>
          <a:lstStyle/>
          <a:p>
            <a:r>
              <a:rPr lang="en-US" dirty="0" smtClean="0"/>
              <a:t>On-Level Biology Book: Pages 985 – 991</a:t>
            </a:r>
          </a:p>
          <a:p>
            <a:r>
              <a:rPr lang="en-US" dirty="0" smtClean="0"/>
              <a:t>Pre-AP Biology Book: Pages 985 - 995</a:t>
            </a:r>
            <a:endParaRPr lang="en-US" dirty="0"/>
          </a:p>
        </p:txBody>
      </p:sp>
      <p:pic>
        <p:nvPicPr>
          <p:cNvPr id="58370" name="Picture 2" descr="http://academic.kellogg.cc.mi.us/herbrandsonc/bio201_mckinley/f27-1al_urinary_system__c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059" r="1449"/>
          <a:stretch>
            <a:fillRect/>
          </a:stretch>
        </p:blipFill>
        <p:spPr bwMode="auto">
          <a:xfrm>
            <a:off x="3276600" y="152400"/>
            <a:ext cx="3276600" cy="3053743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7200" dirty="0" smtClean="0"/>
              <a:t>The Excretory System eliminates waste products from the body</a:t>
            </a:r>
            <a:endParaRPr lang="en-US" sz="72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5105400" cy="6096000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 smtClean="0"/>
              <a:t>Kidneys</a:t>
            </a:r>
          </a:p>
          <a:p>
            <a:pPr marL="512064" lvl="3" indent="-274320">
              <a:buSzPct val="80000"/>
              <a:buFont typeface="Wingdings 2" pitchFamily="18" charset="2"/>
              <a:buChar char=""/>
            </a:pPr>
            <a:r>
              <a:rPr lang="en-US" sz="2400" dirty="0" smtClean="0"/>
              <a:t>Help maintain homeostasis by filtering blood to remove waste</a:t>
            </a:r>
          </a:p>
          <a:p>
            <a:r>
              <a:rPr lang="en-US" sz="3600" dirty="0" err="1" smtClean="0"/>
              <a:t>Nephron</a:t>
            </a:r>
            <a:endParaRPr lang="en-US" sz="3600" dirty="0" smtClean="0"/>
          </a:p>
          <a:p>
            <a:pPr lvl="1"/>
            <a:r>
              <a:rPr lang="en-US" sz="2800" dirty="0" smtClean="0"/>
              <a:t>Tiny filter that makes up the kidney, there are millions</a:t>
            </a:r>
          </a:p>
          <a:p>
            <a:r>
              <a:rPr lang="en-US" sz="3600" dirty="0" smtClean="0"/>
              <a:t>Ureters</a:t>
            </a:r>
          </a:p>
          <a:p>
            <a:pPr lvl="1"/>
            <a:r>
              <a:rPr lang="en-US" sz="2800" dirty="0" smtClean="0"/>
              <a:t>Tubes connecting the kidneys to the bladder</a:t>
            </a:r>
          </a:p>
          <a:p>
            <a:r>
              <a:rPr lang="en-US" sz="3600" dirty="0" smtClean="0"/>
              <a:t>Urinary Bladder</a:t>
            </a:r>
          </a:p>
          <a:p>
            <a:pPr lvl="1"/>
            <a:r>
              <a:rPr lang="en-US" sz="2800" dirty="0" smtClean="0"/>
              <a:t>Smooth muscle bag that stores a solution of wastes called urine</a:t>
            </a:r>
          </a:p>
          <a:p>
            <a:r>
              <a:rPr lang="en-US" sz="3600" dirty="0" smtClean="0"/>
              <a:t>Urethra</a:t>
            </a:r>
          </a:p>
          <a:p>
            <a:pPr lvl="1"/>
            <a:r>
              <a:rPr lang="en-US" sz="2800" dirty="0" smtClean="0"/>
              <a:t>Tube where urine passed out of the body</a:t>
            </a:r>
          </a:p>
          <a:p>
            <a:r>
              <a:rPr lang="en-US" sz="3600" dirty="0" smtClean="0"/>
              <a:t>Skin</a:t>
            </a:r>
          </a:p>
          <a:p>
            <a:r>
              <a:rPr lang="en-US" sz="3600" dirty="0" smtClean="0"/>
              <a:t>Lungs</a:t>
            </a:r>
          </a:p>
          <a:p>
            <a:endParaRPr lang="en-US" dirty="0"/>
          </a:p>
        </p:txBody>
      </p:sp>
      <p:pic>
        <p:nvPicPr>
          <p:cNvPr id="40962" name="Picture 2" descr="http://www.leftofhere.com/wp-content/uploads/2011/06/kidney-713543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53000" y="685800"/>
            <a:ext cx="3810000" cy="3048001"/>
          </a:xfrm>
          <a:prstGeom prst="rect">
            <a:avLst/>
          </a:prstGeom>
          <a:noFill/>
        </p:spPr>
      </p:pic>
      <p:pic>
        <p:nvPicPr>
          <p:cNvPr id="40964" name="Picture 4" descr="http://www.doctortipster.com/wp-content/uploads/2011/07/bladder-cancer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00600" y="3581400"/>
            <a:ext cx="4114800" cy="3291841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Circulatory – waste products are carried from the cells to the kidney through blood vessels</a:t>
            </a:r>
          </a:p>
          <a:p>
            <a:r>
              <a:rPr lang="en-US" sz="4000" dirty="0" smtClean="0"/>
              <a:t>Endocrine – hormones are sent that control water levels and homeostasis</a:t>
            </a:r>
          </a:p>
          <a:p>
            <a:r>
              <a:rPr lang="en-US" sz="4000" dirty="0" smtClean="0"/>
              <a:t>Respiratory – expels toxic CO2 out of body</a:t>
            </a:r>
            <a:endParaRPr lang="en-US" sz="4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2609850"/>
          </a:xfrm>
        </p:spPr>
        <p:txBody>
          <a:bodyPr/>
          <a:lstStyle/>
          <a:p>
            <a:r>
              <a:rPr lang="en-US" dirty="0" smtClean="0"/>
              <a:t>Respiratory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19200" y="4267200"/>
            <a:ext cx="6705600" cy="1752600"/>
          </a:xfrm>
        </p:spPr>
        <p:txBody>
          <a:bodyPr/>
          <a:lstStyle/>
          <a:p>
            <a:r>
              <a:rPr lang="en-US" dirty="0" smtClean="0"/>
              <a:t>On-Level Biology Book: Pages 971 – 974</a:t>
            </a:r>
          </a:p>
          <a:p>
            <a:r>
              <a:rPr lang="en-US" dirty="0" smtClean="0"/>
              <a:t>Pre-AP Biology Book: Pages 956 - 969</a:t>
            </a:r>
            <a:endParaRPr lang="en-US" dirty="0"/>
          </a:p>
        </p:txBody>
      </p:sp>
      <p:pic>
        <p:nvPicPr>
          <p:cNvPr id="57346" name="Picture 2" descr="http://schealthcoffey.wikispaces.com/file/view/Respiratory_System.jpg/118734809/Respiratory_System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95525" y="0"/>
            <a:ext cx="4552950" cy="3480306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6000" dirty="0" smtClean="0"/>
              <a:t>The Respiratory System provides oxygen needed for cellular respiration and removes carbon dioxide from the body</a:t>
            </a:r>
            <a:endParaRPr lang="en-US" sz="6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5638800" cy="6019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Nose and Mouth</a:t>
            </a:r>
          </a:p>
          <a:p>
            <a:pPr lvl="1"/>
            <a:r>
              <a:rPr lang="en-US" sz="2400" dirty="0" smtClean="0"/>
              <a:t>Respiration begins with taking in air</a:t>
            </a:r>
          </a:p>
          <a:p>
            <a:pPr lvl="1">
              <a:buNone/>
            </a:pPr>
            <a:endParaRPr lang="en-US" sz="2400" dirty="0" smtClean="0"/>
          </a:p>
          <a:p>
            <a:r>
              <a:rPr lang="en-US" sz="3200" dirty="0" smtClean="0"/>
              <a:t>Pharynx (Throat)</a:t>
            </a:r>
          </a:p>
          <a:p>
            <a:r>
              <a:rPr lang="en-US" sz="3200" dirty="0" smtClean="0"/>
              <a:t>Larynx</a:t>
            </a:r>
          </a:p>
          <a:p>
            <a:pPr lvl="1"/>
            <a:r>
              <a:rPr lang="en-US" sz="2400" dirty="0" smtClean="0"/>
              <a:t>Where your vocal cords are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r>
              <a:rPr lang="en-US" sz="3200" dirty="0" smtClean="0"/>
              <a:t>Trachea (Windpipe)</a:t>
            </a:r>
          </a:p>
          <a:p>
            <a:pPr lvl="1"/>
            <a:r>
              <a:rPr lang="en-US" sz="2400" dirty="0" smtClean="0"/>
              <a:t>Passes air into the bronchi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r>
              <a:rPr lang="en-US" sz="3200" dirty="0" smtClean="0"/>
              <a:t>Bronchi (singular: Bronchus)</a:t>
            </a:r>
          </a:p>
          <a:p>
            <a:pPr lvl="1"/>
            <a:r>
              <a:rPr lang="en-US" sz="2400" dirty="0" smtClean="0"/>
              <a:t>Passes air from trachea to the lungs</a:t>
            </a:r>
          </a:p>
        </p:txBody>
      </p:sp>
      <p:pic>
        <p:nvPicPr>
          <p:cNvPr id="36868" name="Picture 4" descr="http://www.ibguides.com/images/biology/respiratory-system.gif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91000" y="970279"/>
            <a:ext cx="4953000" cy="4820921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838200"/>
            <a:ext cx="5029200" cy="60198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Bronchioles</a:t>
            </a:r>
          </a:p>
          <a:p>
            <a:pPr lvl="1"/>
            <a:r>
              <a:rPr lang="en-US" sz="2800" dirty="0" smtClean="0"/>
              <a:t>Each Bronchus in the lungs branches out like a tree into bronchioles</a:t>
            </a:r>
          </a:p>
          <a:p>
            <a:r>
              <a:rPr lang="en-US" sz="3600" dirty="0" smtClean="0"/>
              <a:t>Alveoli</a:t>
            </a:r>
          </a:p>
          <a:p>
            <a:pPr lvl="1"/>
            <a:r>
              <a:rPr lang="en-US" sz="2800" dirty="0" smtClean="0"/>
              <a:t>Sacs at the end of the Bronchioles where oxygen and carbon dioxide are exchanged</a:t>
            </a:r>
          </a:p>
          <a:p>
            <a:r>
              <a:rPr lang="en-US" sz="3600" dirty="0" smtClean="0"/>
              <a:t>Diaphragm </a:t>
            </a:r>
          </a:p>
          <a:p>
            <a:pPr lvl="1"/>
            <a:r>
              <a:rPr lang="en-US" sz="2800" dirty="0" smtClean="0"/>
              <a:t>Muscle that enables you to breathe</a:t>
            </a:r>
            <a:endParaRPr lang="en-US" sz="2800" dirty="0"/>
          </a:p>
        </p:txBody>
      </p:sp>
      <p:pic>
        <p:nvPicPr>
          <p:cNvPr id="4" name="Picture 2" descr="http://www.hyperbaric-oxygen-info.com/image-files/respiratory-system-diagram-alveoli-00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600200"/>
            <a:ext cx="4286250" cy="3590926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Circulatory – brings O2 to the cells and CO2 back to the lungs</a:t>
            </a:r>
          </a:p>
          <a:p>
            <a:r>
              <a:rPr lang="en-US" sz="5400" dirty="0" smtClean="0"/>
              <a:t>Excretory – part of the excretory system to get rid of toxic CO2 from the body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2609850"/>
          </a:xfrm>
        </p:spPr>
        <p:txBody>
          <a:bodyPr/>
          <a:lstStyle/>
          <a:p>
            <a:r>
              <a:rPr lang="en-US" dirty="0" smtClean="0"/>
              <a:t>Circulatory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95400" y="5105400"/>
            <a:ext cx="6705600" cy="1752600"/>
          </a:xfrm>
        </p:spPr>
        <p:txBody>
          <a:bodyPr/>
          <a:lstStyle/>
          <a:p>
            <a:r>
              <a:rPr lang="en-US" dirty="0" smtClean="0"/>
              <a:t>On-Level Biology Book: Pages 975 – 984</a:t>
            </a:r>
          </a:p>
          <a:p>
            <a:r>
              <a:rPr lang="en-US" dirty="0" smtClean="0"/>
              <a:t>Pre-AP Biology Book: Pages 942 - 955</a:t>
            </a:r>
          </a:p>
          <a:p>
            <a:endParaRPr lang="en-US" dirty="0"/>
          </a:p>
        </p:txBody>
      </p:sp>
      <p:pic>
        <p:nvPicPr>
          <p:cNvPr id="55298" name="Picture 2" descr="http://images.picturesdepot.com/photo/c/cardiovascular_system_diagram-1316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76500" y="0"/>
            <a:ext cx="4191000" cy="4152901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800" dirty="0" smtClean="0"/>
              <a:t>The Circulatory Systems brings oxygen, nutrients and hormones to cells; fights infections; removes cell wastes; regulates body temperature</a:t>
            </a:r>
            <a:endParaRPr lang="en-US" sz="48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http://www.nlm.nih.gov/medlineplus/images/heart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86400" y="457200"/>
            <a:ext cx="2880360" cy="36004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144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5943600" cy="6248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Heart</a:t>
            </a:r>
          </a:p>
          <a:p>
            <a:pPr lvl="1"/>
            <a:r>
              <a:rPr lang="en-US" sz="2400" dirty="0" smtClean="0"/>
              <a:t>The pump that keeps blood flowing through your body</a:t>
            </a:r>
          </a:p>
          <a:p>
            <a:r>
              <a:rPr lang="en-US" sz="3200" dirty="0" smtClean="0"/>
              <a:t>Blood Vessels</a:t>
            </a:r>
          </a:p>
          <a:p>
            <a:pPr lvl="1"/>
            <a:r>
              <a:rPr lang="en-US" sz="2400" dirty="0" smtClean="0"/>
              <a:t>Arteries</a:t>
            </a:r>
          </a:p>
          <a:p>
            <a:pPr lvl="2"/>
            <a:r>
              <a:rPr lang="en-US" sz="2400" dirty="0" smtClean="0"/>
              <a:t>Carry blood away from the heart</a:t>
            </a:r>
          </a:p>
          <a:p>
            <a:r>
              <a:rPr lang="en-US" sz="3200" dirty="0" smtClean="0"/>
              <a:t>Blood</a:t>
            </a:r>
          </a:p>
          <a:p>
            <a:pPr lvl="1"/>
            <a:r>
              <a:rPr lang="en-US" sz="2400" dirty="0" smtClean="0"/>
              <a:t>Red Blood Cells</a:t>
            </a:r>
          </a:p>
          <a:p>
            <a:pPr lvl="2"/>
            <a:r>
              <a:rPr lang="en-US" sz="2400" dirty="0" smtClean="0"/>
              <a:t>Carry oxygen to the body cells</a:t>
            </a:r>
          </a:p>
          <a:p>
            <a:pPr lvl="1"/>
            <a:r>
              <a:rPr lang="en-US" sz="2400" dirty="0" smtClean="0"/>
              <a:t>White blood cells</a:t>
            </a:r>
          </a:p>
          <a:p>
            <a:pPr lvl="2"/>
            <a:r>
              <a:rPr lang="en-US" sz="2400" dirty="0" smtClean="0"/>
              <a:t>Defend body against disease</a:t>
            </a:r>
          </a:p>
          <a:p>
            <a:pPr lvl="1"/>
            <a:r>
              <a:rPr lang="en-US" sz="2400" dirty="0" smtClean="0"/>
              <a:t>Platelets</a:t>
            </a:r>
          </a:p>
          <a:p>
            <a:pPr lvl="2"/>
            <a:r>
              <a:rPr lang="en-US" sz="2400" dirty="0" smtClean="0"/>
              <a:t>Cell fragments needed for blood clotting </a:t>
            </a:r>
          </a:p>
          <a:p>
            <a:pPr lvl="1"/>
            <a:r>
              <a:rPr lang="en-US" sz="2400" dirty="0" smtClean="0"/>
              <a:t>Plasma</a:t>
            </a:r>
          </a:p>
          <a:p>
            <a:pPr lvl="2"/>
            <a:r>
              <a:rPr lang="en-US" sz="2400" dirty="0" smtClean="0"/>
              <a:t>Fluid portion of the blood</a:t>
            </a:r>
          </a:p>
        </p:txBody>
      </p:sp>
      <p:pic>
        <p:nvPicPr>
          <p:cNvPr id="33796" name="Picture 4" descr="http://img.webmd.com/dtmcms/live/webmd/consumer_assets/site_images/articles/image_article_collections/anatomy_pages/bloo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886200"/>
            <a:ext cx="4038600" cy="2744283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/>
              <a:t>Connected to almost all other systems since the circulatory system carries oxygen to all cells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609850"/>
          </a:xfrm>
        </p:spPr>
        <p:txBody>
          <a:bodyPr/>
          <a:lstStyle/>
          <a:p>
            <a:r>
              <a:rPr lang="en-US" dirty="0" smtClean="0"/>
              <a:t>Skeletal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781800" cy="1752600"/>
          </a:xfrm>
        </p:spPr>
        <p:txBody>
          <a:bodyPr/>
          <a:lstStyle/>
          <a:p>
            <a:r>
              <a:rPr lang="en-US" dirty="0" smtClean="0"/>
              <a:t>On-Level Biology Book: Pages 899 -904</a:t>
            </a:r>
          </a:p>
          <a:p>
            <a:r>
              <a:rPr lang="en-US" dirty="0" smtClean="0"/>
              <a:t> Pre-AP Biology Book: Pages 920-925</a:t>
            </a:r>
            <a:endParaRPr lang="en-US" dirty="0"/>
          </a:p>
        </p:txBody>
      </p:sp>
      <p:pic>
        <p:nvPicPr>
          <p:cNvPr id="54278" name="Picture 6" descr="http://msmcgartland.pbworks.com/f/Skeleton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1" y="0"/>
            <a:ext cx="4571999" cy="36576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5400" dirty="0" smtClean="0"/>
              <a:t>The Skeletal System supports the body; protects internal organs; allows movement; stores mineral reserves; provides blood cell formation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8686800" cy="6172200"/>
          </a:xfrm>
        </p:spPr>
        <p:txBody>
          <a:bodyPr>
            <a:noAutofit/>
          </a:bodyPr>
          <a:lstStyle/>
          <a:p>
            <a:r>
              <a:rPr lang="en-US" sz="3200" dirty="0" smtClean="0"/>
              <a:t>Bones</a:t>
            </a:r>
          </a:p>
          <a:p>
            <a:pPr lvl="1"/>
            <a:r>
              <a:rPr lang="en-US" sz="2400" dirty="0" smtClean="0"/>
              <a:t>Produce blood cells</a:t>
            </a:r>
          </a:p>
          <a:p>
            <a:pPr lvl="1"/>
            <a:r>
              <a:rPr lang="en-US" sz="2400" dirty="0" smtClean="0"/>
              <a:t>Red Marrow</a:t>
            </a:r>
          </a:p>
          <a:p>
            <a:pPr lvl="2"/>
            <a:r>
              <a:rPr lang="en-US" sz="2400" dirty="0" smtClean="0"/>
              <a:t>Produce red and white blood cells</a:t>
            </a:r>
          </a:p>
          <a:p>
            <a:pPr lvl="1"/>
            <a:r>
              <a:rPr lang="en-US" sz="2400" dirty="0" smtClean="0"/>
              <a:t>Yellow Marrow</a:t>
            </a:r>
          </a:p>
          <a:p>
            <a:pPr lvl="2"/>
            <a:r>
              <a:rPr lang="en-US" sz="2400" dirty="0" smtClean="0"/>
              <a:t>Consists of stored fat</a:t>
            </a:r>
          </a:p>
          <a:p>
            <a:r>
              <a:rPr lang="en-US" sz="3200" dirty="0" smtClean="0"/>
              <a:t>Joints</a:t>
            </a:r>
          </a:p>
          <a:p>
            <a:pPr lvl="1"/>
            <a:r>
              <a:rPr lang="en-US" sz="2400" dirty="0" smtClean="0"/>
              <a:t>Found where two (2) bones meet</a:t>
            </a:r>
          </a:p>
          <a:p>
            <a:r>
              <a:rPr lang="en-US" sz="3200" dirty="0" smtClean="0"/>
              <a:t>Cartilage</a:t>
            </a:r>
          </a:p>
          <a:p>
            <a:pPr lvl="1"/>
            <a:r>
              <a:rPr lang="en-US" sz="2400" dirty="0" smtClean="0"/>
              <a:t>Surrounds the end on bone to prevent grinding upon another bone</a:t>
            </a:r>
          </a:p>
          <a:p>
            <a:r>
              <a:rPr lang="en-US" sz="3200" dirty="0" smtClean="0"/>
              <a:t>Ligaments</a:t>
            </a:r>
          </a:p>
          <a:p>
            <a:pPr lvl="1"/>
            <a:r>
              <a:rPr lang="en-US" sz="2400" dirty="0" smtClean="0"/>
              <a:t>Tough band of tissue attaching one bone to another</a:t>
            </a:r>
          </a:p>
          <a:p>
            <a:r>
              <a:rPr lang="en-US" sz="3200" dirty="0" smtClean="0"/>
              <a:t>Tendons</a:t>
            </a:r>
          </a:p>
          <a:p>
            <a:pPr lvl="1"/>
            <a:r>
              <a:rPr lang="en-US" sz="2400" dirty="0" smtClean="0"/>
              <a:t>Thick bands of tissue connecting muscle to bone</a:t>
            </a:r>
          </a:p>
        </p:txBody>
      </p:sp>
      <p:pic>
        <p:nvPicPr>
          <p:cNvPr id="29698" name="Picture 2" descr="http://www.biomechanism.com/wp-content/uploads/2011/10/bone-marrow-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762000"/>
            <a:ext cx="3333750" cy="2461041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400" dirty="0" smtClean="0"/>
              <a:t>Muscular system – bones and muscles work together for movement</a:t>
            </a:r>
          </a:p>
          <a:p>
            <a:r>
              <a:rPr lang="en-US" sz="4400" dirty="0" smtClean="0"/>
              <a:t>Circulatory system and immune system – all blood cells (red and white) are made in the bone marrow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62000" y="1905000"/>
            <a:ext cx="7772400" cy="2609850"/>
          </a:xfrm>
        </p:spPr>
        <p:txBody>
          <a:bodyPr/>
          <a:lstStyle/>
          <a:p>
            <a:r>
              <a:rPr lang="en-US" dirty="0" smtClean="0"/>
              <a:t>Muscular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3000" y="4495800"/>
            <a:ext cx="6781800" cy="1752600"/>
          </a:xfrm>
        </p:spPr>
        <p:txBody>
          <a:bodyPr/>
          <a:lstStyle/>
          <a:p>
            <a:r>
              <a:rPr lang="en-US" dirty="0" smtClean="0"/>
              <a:t>On-Level Biology Book: Pages 905 – 913</a:t>
            </a:r>
          </a:p>
          <a:p>
            <a:r>
              <a:rPr lang="en-US" dirty="0" smtClean="0"/>
              <a:t>Pre-AP Biology Book: Pages 926 - 932</a:t>
            </a:r>
            <a:endParaRPr lang="en-US" dirty="0"/>
          </a:p>
        </p:txBody>
      </p:sp>
      <p:pic>
        <p:nvPicPr>
          <p:cNvPr id="56322" name="Picture 2" descr="http://www.shapesense.com/images/blank-muscle-anatomy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00300" y="0"/>
            <a:ext cx="4343400" cy="3691891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6000" dirty="0" smtClean="0"/>
              <a:t>The Muscular System produces voluntary movement; circulates blood, moves food through digestive system</a:t>
            </a:r>
            <a:endParaRPr lang="en-US" sz="6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images.ddccdn.com/enc/images/images/en/types-of-muscle-tissue-19917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62400" y="1981200"/>
            <a:ext cx="5334000" cy="426720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5257800" cy="59436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Cardiac Muscle</a:t>
            </a:r>
          </a:p>
          <a:p>
            <a:pPr lvl="1"/>
            <a:r>
              <a:rPr lang="en-US" sz="2800" dirty="0" smtClean="0"/>
              <a:t>Makes up your heart, is adapted to generate and conduct electrical impulses</a:t>
            </a:r>
            <a:endParaRPr lang="en-US" sz="3600" dirty="0" smtClean="0"/>
          </a:p>
          <a:p>
            <a:r>
              <a:rPr lang="en-US" sz="3600" dirty="0" smtClean="0"/>
              <a:t>Skeletal Muscle</a:t>
            </a:r>
          </a:p>
          <a:p>
            <a:pPr>
              <a:buNone/>
            </a:pPr>
            <a:r>
              <a:rPr lang="en-US" sz="3600" dirty="0" smtClean="0"/>
              <a:t> (voluntary muscle)</a:t>
            </a:r>
          </a:p>
          <a:p>
            <a:pPr lvl="1"/>
            <a:r>
              <a:rPr lang="en-US" sz="2800" dirty="0" smtClean="0"/>
              <a:t>Attaches to and moves </a:t>
            </a:r>
          </a:p>
          <a:p>
            <a:pPr lvl="1">
              <a:buNone/>
            </a:pPr>
            <a:r>
              <a:rPr lang="en-US" sz="2800" dirty="0" smtClean="0"/>
              <a:t>   bones</a:t>
            </a:r>
          </a:p>
          <a:p>
            <a:r>
              <a:rPr lang="en-US" sz="3600" dirty="0" smtClean="0"/>
              <a:t>Smooth Muscle </a:t>
            </a:r>
          </a:p>
          <a:p>
            <a:pPr>
              <a:buNone/>
            </a:pPr>
            <a:r>
              <a:rPr lang="en-US" sz="3600" dirty="0" smtClean="0"/>
              <a:t>(involuntary muscle)</a:t>
            </a:r>
          </a:p>
          <a:p>
            <a:pPr lvl="1"/>
            <a:r>
              <a:rPr lang="en-US" sz="2800" dirty="0" smtClean="0"/>
              <a:t>Found on walls of internal organs and blood vessels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400" dirty="0" smtClean="0"/>
              <a:t>Works closely with the:</a:t>
            </a:r>
          </a:p>
          <a:p>
            <a:pPr lvl="1"/>
            <a:r>
              <a:rPr lang="en-US" sz="4400" dirty="0" smtClean="0"/>
              <a:t>skeletal system</a:t>
            </a:r>
          </a:p>
          <a:p>
            <a:pPr lvl="1"/>
            <a:r>
              <a:rPr lang="en-US" sz="4400" dirty="0" smtClean="0"/>
              <a:t>Circulatory – brings O2 to muscles and waste products such as lactic acid away</a:t>
            </a:r>
          </a:p>
          <a:p>
            <a:pPr lvl="1"/>
            <a:r>
              <a:rPr lang="en-US" sz="4400" dirty="0" smtClean="0"/>
              <a:t>Nervous – how muscles contract</a:t>
            </a:r>
          </a:p>
          <a:p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http://upload.wikimedia.org/wikipedia/commons/b/ba/Nervous_system_diagram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0" y="228599"/>
            <a:ext cx="3810000" cy="6305791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1143000" y="381000"/>
            <a:ext cx="7772400" cy="2609850"/>
          </a:xfrm>
        </p:spPr>
        <p:txBody>
          <a:bodyPr/>
          <a:lstStyle/>
          <a:p>
            <a:r>
              <a:rPr lang="en-US" dirty="0" smtClean="0"/>
              <a:t>Nervous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2895600"/>
            <a:ext cx="5029200" cy="2667000"/>
          </a:xfrm>
        </p:spPr>
        <p:txBody>
          <a:bodyPr/>
          <a:lstStyle/>
          <a:p>
            <a:r>
              <a:rPr lang="en-US" dirty="0" smtClean="0"/>
              <a:t>On-Level Biology Book: Pages 943 – 950</a:t>
            </a:r>
          </a:p>
          <a:p>
            <a:r>
              <a:rPr lang="en-US" dirty="0" smtClean="0"/>
              <a:t>Pre-AP Biology Book: Pages 890 - 919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5400" dirty="0" smtClean="0"/>
              <a:t>The Nervous System recognizes and coordinates the body's response to changes in its internal and external environments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www.mhhe.com/socscience/intro/ibank/ibank/0002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38600" y="1524000"/>
            <a:ext cx="5105400" cy="38290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4724400" cy="6172199"/>
          </a:xfrm>
        </p:spPr>
        <p:txBody>
          <a:bodyPr>
            <a:noAutofit/>
          </a:bodyPr>
          <a:lstStyle/>
          <a:p>
            <a:r>
              <a:rPr lang="en-US" sz="3600" dirty="0" smtClean="0"/>
              <a:t>Neurons (Nerve Cells)</a:t>
            </a:r>
          </a:p>
          <a:p>
            <a:pPr lvl="1"/>
            <a:r>
              <a:rPr lang="en-US" sz="2800" dirty="0" smtClean="0"/>
              <a:t>Basic unit of structure and function of the nervous system</a:t>
            </a:r>
          </a:p>
          <a:p>
            <a:pPr lvl="1"/>
            <a:r>
              <a:rPr lang="en-US" sz="2800" dirty="0" smtClean="0"/>
              <a:t>Long cell with 3 regions</a:t>
            </a:r>
          </a:p>
          <a:p>
            <a:pPr marL="1042416" lvl="2" indent="-457200">
              <a:buFont typeface="+mj-lt"/>
              <a:buAutoNum type="arabicPeriod"/>
            </a:pPr>
            <a:r>
              <a:rPr lang="en-US" sz="2800" dirty="0" smtClean="0"/>
              <a:t>Cell body</a:t>
            </a:r>
          </a:p>
          <a:p>
            <a:pPr marL="1042416" lvl="2" indent="-457200">
              <a:buFont typeface="+mj-lt"/>
              <a:buAutoNum type="arabicPeriod"/>
            </a:pPr>
            <a:r>
              <a:rPr lang="en-US" sz="2800" dirty="0" smtClean="0"/>
              <a:t>Dendrites</a:t>
            </a:r>
          </a:p>
          <a:p>
            <a:pPr marL="1298448" lvl="3" indent="-457200"/>
            <a:r>
              <a:rPr lang="en-US" sz="2600" dirty="0" smtClean="0"/>
              <a:t>Receive impulses and deliver them to the cel</a:t>
            </a:r>
            <a:r>
              <a:rPr lang="en-US" sz="2400" dirty="0" smtClean="0"/>
              <a:t>l</a:t>
            </a:r>
          </a:p>
          <a:p>
            <a:pPr marL="1042416" lvl="2" indent="-457200">
              <a:buFont typeface="+mj-lt"/>
              <a:buAutoNum type="arabicPeriod"/>
            </a:pPr>
            <a:r>
              <a:rPr lang="en-US" sz="2800" dirty="0" smtClean="0"/>
              <a:t>Axon</a:t>
            </a:r>
          </a:p>
          <a:p>
            <a:pPr marL="1298448" lvl="3" indent="-457200"/>
            <a:r>
              <a:rPr lang="en-US" sz="2600" dirty="0" smtClean="0"/>
              <a:t>Extension of the neuron that carry impulses away from the cell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1066800"/>
            <a:ext cx="5334000" cy="5791200"/>
          </a:xfrm>
        </p:spPr>
        <p:txBody>
          <a:bodyPr>
            <a:noAutofit/>
          </a:bodyPr>
          <a:lstStyle/>
          <a:p>
            <a:r>
              <a:rPr lang="en-US" sz="3600" dirty="0" smtClean="0"/>
              <a:t>Brian</a:t>
            </a:r>
          </a:p>
          <a:p>
            <a:pPr lvl="1"/>
            <a:r>
              <a:rPr lang="en-US" sz="2800" dirty="0" smtClean="0"/>
              <a:t>Control center</a:t>
            </a:r>
          </a:p>
          <a:p>
            <a:r>
              <a:rPr lang="en-US" sz="3600" dirty="0" smtClean="0"/>
              <a:t>Spinal Cord</a:t>
            </a:r>
          </a:p>
          <a:p>
            <a:r>
              <a:rPr lang="en-US" sz="3600" dirty="0" smtClean="0"/>
              <a:t>Central Nervous System</a:t>
            </a:r>
          </a:p>
          <a:p>
            <a:pPr lvl="1"/>
            <a:r>
              <a:rPr lang="en-US" sz="2800" dirty="0" smtClean="0"/>
              <a:t>Made up of the brain and spinal cord and coordinates your body’s activities</a:t>
            </a:r>
          </a:p>
          <a:p>
            <a:r>
              <a:rPr lang="en-US" sz="3600" dirty="0" smtClean="0"/>
              <a:t>Peripheral Nervous System</a:t>
            </a:r>
          </a:p>
          <a:p>
            <a:pPr lvl="1"/>
            <a:r>
              <a:rPr lang="en-US" sz="2800" dirty="0" smtClean="0"/>
              <a:t>Made up of the nerves which carry messages to and from the central nervous system</a:t>
            </a:r>
          </a:p>
        </p:txBody>
      </p:sp>
      <p:pic>
        <p:nvPicPr>
          <p:cNvPr id="66562" name="Picture 2" descr="http://www.danielwiener.com/daniel/tips/archives/fig2_15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52600"/>
            <a:ext cx="3787361" cy="41148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The nervous system works with many other systems, but works closely with the:</a:t>
            </a:r>
          </a:p>
          <a:p>
            <a:r>
              <a:rPr lang="en-US" sz="4800" dirty="0" smtClean="0"/>
              <a:t>Digestive system</a:t>
            </a:r>
          </a:p>
          <a:p>
            <a:r>
              <a:rPr lang="en-US" sz="4800" dirty="0" smtClean="0"/>
              <a:t>Muscular system</a:t>
            </a:r>
            <a:endParaRPr lang="en-US" sz="48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2609850"/>
          </a:xfrm>
        </p:spPr>
        <p:txBody>
          <a:bodyPr/>
          <a:lstStyle/>
          <a:p>
            <a:r>
              <a:rPr lang="en-US" dirty="0" smtClean="0"/>
              <a:t>Integumentary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4890911"/>
            <a:ext cx="6400800" cy="1967089"/>
          </a:xfrm>
        </p:spPr>
        <p:txBody>
          <a:bodyPr/>
          <a:lstStyle/>
          <a:p>
            <a:r>
              <a:rPr lang="en-US" dirty="0" smtClean="0"/>
              <a:t>On-Level Biology Book: Pg 893 – 898</a:t>
            </a:r>
          </a:p>
          <a:p>
            <a:r>
              <a:rPr lang="en-US" dirty="0" smtClean="0"/>
              <a:t>Pre-AP Biology Book: Pages 933 - 941</a:t>
            </a:r>
            <a:endParaRPr lang="en-US" dirty="0"/>
          </a:p>
        </p:txBody>
      </p:sp>
      <p:pic>
        <p:nvPicPr>
          <p:cNvPr id="52226" name="Picture 2" descr="http://w3.shorecrest.org/~Lisa_Peck/anatomy_phys/ch_4skin/Images/04.04_SkinStruct_1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00200" y="-533400"/>
            <a:ext cx="6000750" cy="4638676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5400" dirty="0" smtClean="0"/>
              <a:t>The Integumentary System is the barrier against infections and injury; regulates body temperature; protects against ultraviolet radiation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Autofit/>
          </a:bodyPr>
          <a:lstStyle/>
          <a:p>
            <a:r>
              <a:rPr lang="en-US" sz="3600" dirty="0" smtClean="0"/>
              <a:t>Skin</a:t>
            </a:r>
          </a:p>
          <a:p>
            <a:pPr lvl="1"/>
            <a:r>
              <a:rPr lang="en-US" sz="2800" dirty="0" smtClean="0"/>
              <a:t>Epidermis: outermost layer of skin</a:t>
            </a:r>
          </a:p>
          <a:p>
            <a:pPr lvl="2"/>
            <a:r>
              <a:rPr lang="en-US" sz="2800" dirty="0" smtClean="0"/>
              <a:t>covers the surfaces of the body</a:t>
            </a:r>
          </a:p>
          <a:p>
            <a:pPr lvl="1"/>
            <a:r>
              <a:rPr lang="en-US" sz="2800" dirty="0" smtClean="0"/>
              <a:t>Dermis: inner layer of skin</a:t>
            </a:r>
          </a:p>
          <a:p>
            <a:pPr lvl="2"/>
            <a:r>
              <a:rPr lang="en-US" sz="2800" dirty="0" smtClean="0"/>
              <a:t>Contains blood vessels, nerve cells, hair follicles, sweat and oil glands</a:t>
            </a:r>
          </a:p>
          <a:p>
            <a:r>
              <a:rPr lang="en-US" sz="3600" dirty="0" smtClean="0"/>
              <a:t>Hair, Skin and Nails</a:t>
            </a:r>
          </a:p>
          <a:p>
            <a:pPr lvl="1"/>
            <a:r>
              <a:rPr lang="en-US" sz="2800" dirty="0" smtClean="0"/>
              <a:t>Made up of Keratin</a:t>
            </a:r>
          </a:p>
          <a:p>
            <a:r>
              <a:rPr lang="en-US" sz="3600" dirty="0" smtClean="0"/>
              <a:t>Pigment of skin and hair</a:t>
            </a:r>
          </a:p>
          <a:p>
            <a:pPr lvl="1"/>
            <a:r>
              <a:rPr lang="en-US" sz="2800" dirty="0" smtClean="0"/>
              <a:t>Controlled by melanin</a:t>
            </a:r>
          </a:p>
          <a:p>
            <a:r>
              <a:rPr lang="en-US" sz="3600" dirty="0" smtClean="0"/>
              <a:t>Sweat </a:t>
            </a:r>
          </a:p>
          <a:p>
            <a:pPr lvl="1"/>
            <a:r>
              <a:rPr lang="en-US" sz="2800" dirty="0" smtClean="0"/>
              <a:t>Produced to help maintain homeostasis</a:t>
            </a:r>
          </a:p>
          <a:p>
            <a:r>
              <a:rPr lang="en-US" sz="3600" dirty="0" smtClean="0"/>
              <a:t>Oil Glands</a:t>
            </a:r>
            <a:endParaRPr lang="en-US" sz="36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The </a:t>
            </a:r>
            <a:r>
              <a:rPr lang="en-US" sz="6000" dirty="0" err="1" smtClean="0"/>
              <a:t>integumentary</a:t>
            </a:r>
            <a:r>
              <a:rPr lang="en-US" sz="6000" dirty="0" smtClean="0"/>
              <a:t> contains blood vessels and nerves</a:t>
            </a:r>
            <a:endParaRPr lang="en-US" sz="6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2609850"/>
          </a:xfrm>
        </p:spPr>
        <p:txBody>
          <a:bodyPr/>
          <a:lstStyle/>
          <a:p>
            <a:r>
              <a:rPr lang="en-US" dirty="0" smtClean="0"/>
              <a:t>Immune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66800" y="4876800"/>
            <a:ext cx="7086600" cy="1752600"/>
          </a:xfrm>
        </p:spPr>
        <p:txBody>
          <a:bodyPr/>
          <a:lstStyle/>
          <a:p>
            <a:r>
              <a:rPr lang="en-US" dirty="0" smtClean="0"/>
              <a:t>On-Level Biology Book: Pages 1022 – 1045</a:t>
            </a:r>
          </a:p>
          <a:p>
            <a:r>
              <a:rPr lang="en-US" dirty="0" smtClean="0"/>
              <a:t>Pre-AP Biology Book: Pages 1030 - 1059</a:t>
            </a:r>
          </a:p>
          <a:p>
            <a:endParaRPr lang="en-US" dirty="0"/>
          </a:p>
        </p:txBody>
      </p:sp>
      <p:pic>
        <p:nvPicPr>
          <p:cNvPr id="51202" name="Picture 2" descr="http://www.mayoclinic.com/images/image_popup/r7_immunesystem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-251" b="5995"/>
          <a:stretch>
            <a:fillRect/>
          </a:stretch>
        </p:blipFill>
        <p:spPr bwMode="auto">
          <a:xfrm>
            <a:off x="2667000" y="0"/>
            <a:ext cx="3810000" cy="37338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5400" dirty="0" smtClean="0"/>
              <a:t>The Immune System helps protect the body from disease; collects fluid lost from blood vessels and return it to the circulatory system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White Blood Cells</a:t>
            </a:r>
          </a:p>
          <a:p>
            <a:r>
              <a:rPr lang="en-US" sz="4800" dirty="0" smtClean="0"/>
              <a:t>Thymus</a:t>
            </a:r>
          </a:p>
          <a:p>
            <a:r>
              <a:rPr lang="en-US" sz="4800" dirty="0" smtClean="0"/>
              <a:t>Spleen</a:t>
            </a:r>
          </a:p>
          <a:p>
            <a:r>
              <a:rPr lang="en-US" sz="4800" dirty="0" smtClean="0"/>
              <a:t>Lymph Vessels</a:t>
            </a:r>
          </a:p>
          <a:p>
            <a:r>
              <a:rPr lang="en-US" sz="4800" dirty="0" smtClean="0"/>
              <a:t>Lymph Nodes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/>
              <a:t>The immune system works closely with the circulatory system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2609850"/>
          </a:xfrm>
        </p:spPr>
        <p:txBody>
          <a:bodyPr/>
          <a:lstStyle/>
          <a:p>
            <a:r>
              <a:rPr lang="en-US" dirty="0" smtClean="0"/>
              <a:t>Endocrine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95400" y="4800600"/>
            <a:ext cx="6629400" cy="1752600"/>
          </a:xfrm>
        </p:spPr>
        <p:txBody>
          <a:bodyPr/>
          <a:lstStyle/>
          <a:p>
            <a:r>
              <a:rPr lang="en-US" dirty="0" smtClean="0"/>
              <a:t>On-level Biology Book: Pages 929 – 939</a:t>
            </a:r>
          </a:p>
          <a:p>
            <a:r>
              <a:rPr lang="en-US" dirty="0" smtClean="0"/>
              <a:t>Pre-AP Biology Book: Pages 996 - 1008</a:t>
            </a:r>
            <a:endParaRPr lang="en-US" dirty="0"/>
          </a:p>
        </p:txBody>
      </p:sp>
      <p:pic>
        <p:nvPicPr>
          <p:cNvPr id="50178" name="Picture 2" descr="http://images.emedicinehealth.com/images/illustrations/endocrine_system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648" r="703"/>
          <a:stretch>
            <a:fillRect/>
          </a:stretch>
        </p:blipFill>
        <p:spPr bwMode="auto">
          <a:xfrm>
            <a:off x="2552700" y="1"/>
            <a:ext cx="3467100" cy="394955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6000" dirty="0" smtClean="0"/>
              <a:t>The Endocrine System controls growth, development, and metabolism; maintains homeostasis</a:t>
            </a:r>
            <a:endParaRPr lang="en-US" sz="6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762000"/>
            <a:ext cx="5334000" cy="6096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Hypothalamus</a:t>
            </a:r>
          </a:p>
          <a:p>
            <a:pPr lvl="1"/>
            <a:r>
              <a:rPr lang="en-US" sz="2800" dirty="0" smtClean="0"/>
              <a:t>Part of the brain that the main link between the endocrine and nervous systems</a:t>
            </a:r>
          </a:p>
          <a:p>
            <a:r>
              <a:rPr lang="en-US" sz="3600" dirty="0" smtClean="0"/>
              <a:t>Pituitary</a:t>
            </a:r>
          </a:p>
          <a:p>
            <a:pPr lvl="1"/>
            <a:r>
              <a:rPr lang="en-US" sz="2800" dirty="0" smtClean="0"/>
              <a:t>The main gland of the endocrine system. It is stimulated by the hypothalamus when changes in homeostasis are detected and produces chemicals and stimulates other glands.</a:t>
            </a:r>
          </a:p>
        </p:txBody>
      </p:sp>
      <p:pic>
        <p:nvPicPr>
          <p:cNvPr id="8194" name="Picture 2" descr="http://0.tqn.com/d/biology/1/G/J/Z/thalamu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838199"/>
            <a:ext cx="2438400" cy="2148841"/>
          </a:xfrm>
          <a:prstGeom prst="rect">
            <a:avLst/>
          </a:prstGeom>
          <a:noFill/>
        </p:spPr>
      </p:pic>
      <p:pic>
        <p:nvPicPr>
          <p:cNvPr id="8196" name="Picture 4" descr="http://www.rickrichards.com/chakras/pituitary_brain2a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3190874"/>
            <a:ext cx="3810000" cy="3667126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4648200" cy="6096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Thyroid</a:t>
            </a:r>
          </a:p>
          <a:p>
            <a:pPr lvl="1"/>
            <a:r>
              <a:rPr lang="en-US" sz="3200" dirty="0" smtClean="0"/>
              <a:t>Produces thyroxin, the  main growth and metabolic hormone</a:t>
            </a:r>
          </a:p>
          <a:p>
            <a:pPr lvl="1"/>
            <a:r>
              <a:rPr lang="en-US" sz="3200" dirty="0" smtClean="0"/>
              <a:t>Also regulates calcium levels in the blood </a:t>
            </a:r>
          </a:p>
          <a:p>
            <a:r>
              <a:rPr lang="en-US" sz="4000" dirty="0" smtClean="0"/>
              <a:t>Parathyroid</a:t>
            </a:r>
          </a:p>
          <a:p>
            <a:pPr lvl="1"/>
            <a:r>
              <a:rPr lang="en-US" sz="3200" dirty="0" smtClean="0"/>
              <a:t>Regulates minerals by producing PTH (parathyroid hormone)</a:t>
            </a:r>
          </a:p>
        </p:txBody>
      </p:sp>
      <p:pic>
        <p:nvPicPr>
          <p:cNvPr id="64514" name="Picture 2" descr="http://www.mayoclinic.com/images/image_popup/thyroid.jpg"/>
          <p:cNvPicPr>
            <a:picLocks noChangeAspect="1" noChangeArrowheads="1"/>
          </p:cNvPicPr>
          <p:nvPr/>
        </p:nvPicPr>
        <p:blipFill>
          <a:blip r:embed="rId2" cstate="print"/>
          <a:srcRect l="8000" t="10667" r="4000" b="14667"/>
          <a:stretch>
            <a:fillRect/>
          </a:stretch>
        </p:blipFill>
        <p:spPr bwMode="auto">
          <a:xfrm>
            <a:off x="4876800" y="762000"/>
            <a:ext cx="3352800" cy="2133600"/>
          </a:xfrm>
          <a:prstGeom prst="rect">
            <a:avLst/>
          </a:prstGeom>
          <a:noFill/>
        </p:spPr>
      </p:pic>
      <p:pic>
        <p:nvPicPr>
          <p:cNvPr id="64516" name="Picture 4" descr="http://www.mayoclinic.com/images/image_popup/pthyroid.jpg"/>
          <p:cNvPicPr>
            <a:picLocks noChangeAspect="1" noChangeArrowheads="1"/>
          </p:cNvPicPr>
          <p:nvPr/>
        </p:nvPicPr>
        <p:blipFill>
          <a:blip r:embed="rId3" cstate="print"/>
          <a:srcRect t="10526" r="421" b="7894"/>
          <a:stretch>
            <a:fillRect/>
          </a:stretch>
        </p:blipFill>
        <p:spPr bwMode="auto">
          <a:xfrm>
            <a:off x="5105400" y="3810000"/>
            <a:ext cx="3352800" cy="23622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4648200" cy="6096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Adrenal Glands</a:t>
            </a:r>
          </a:p>
          <a:p>
            <a:pPr lvl="1"/>
            <a:r>
              <a:rPr lang="en-US" sz="2800" dirty="0" smtClean="0"/>
              <a:t>Prepare the body for stress by releasing hormones </a:t>
            </a:r>
          </a:p>
          <a:p>
            <a:pPr lvl="1"/>
            <a:r>
              <a:rPr lang="en-US" sz="2800" dirty="0" smtClean="0"/>
              <a:t>epinephrine (adrenaline) </a:t>
            </a:r>
            <a:r>
              <a:rPr lang="en-US" sz="2800" dirty="0" err="1" smtClean="0"/>
              <a:t>norephinephrine</a:t>
            </a:r>
            <a:r>
              <a:rPr lang="en-US" sz="2800" dirty="0" smtClean="0"/>
              <a:t> which increases blood pressure and heart rate</a:t>
            </a:r>
          </a:p>
          <a:p>
            <a:pPr lvl="1"/>
            <a:r>
              <a:rPr lang="en-US" sz="2800" dirty="0" smtClean="0"/>
              <a:t>called corticosteroids that influence or regulate salt and water balance in the body</a:t>
            </a:r>
          </a:p>
        </p:txBody>
      </p:sp>
      <p:pic>
        <p:nvPicPr>
          <p:cNvPr id="64518" name="Picture 6" descr="http://upload.wikimedia.org/wikipedia/commons/1/14/Illu_adrenal_gland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0145" r="1639"/>
          <a:stretch>
            <a:fillRect/>
          </a:stretch>
        </p:blipFill>
        <p:spPr bwMode="auto">
          <a:xfrm>
            <a:off x="4343399" y="1447800"/>
            <a:ext cx="4203291" cy="43434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Pancreas</a:t>
            </a:r>
          </a:p>
          <a:p>
            <a:pPr lvl="1"/>
            <a:r>
              <a:rPr lang="en-US" sz="2800" dirty="0" smtClean="0"/>
              <a:t>produces  two important hormones</a:t>
            </a:r>
          </a:p>
          <a:p>
            <a:pPr lvl="2"/>
            <a:r>
              <a:rPr lang="en-US" sz="2800" dirty="0" smtClean="0"/>
              <a:t> insulin and glucagon: they work together to maintain a steady level of glucose, or sugar, in the blood and to keep the body supplied with fuel to produce and maintain stores of energy</a:t>
            </a:r>
          </a:p>
          <a:p>
            <a:r>
              <a:rPr lang="en-US" sz="3600" dirty="0" smtClean="0"/>
              <a:t>Ovaries</a:t>
            </a:r>
          </a:p>
          <a:p>
            <a:pPr lvl="1"/>
            <a:r>
              <a:rPr lang="en-US" sz="2800" dirty="0" smtClean="0"/>
              <a:t>Secretes female sex hormones</a:t>
            </a:r>
          </a:p>
          <a:p>
            <a:r>
              <a:rPr lang="en-US" sz="3600" dirty="0" smtClean="0"/>
              <a:t>Testes</a:t>
            </a:r>
          </a:p>
          <a:p>
            <a:pPr lvl="1"/>
            <a:r>
              <a:rPr lang="en-US" sz="2800" dirty="0" smtClean="0"/>
              <a:t>Secretes male sex hormones</a:t>
            </a:r>
            <a:endParaRPr lang="en-US" sz="2800" dirty="0"/>
          </a:p>
        </p:txBody>
      </p:sp>
      <p:pic>
        <p:nvPicPr>
          <p:cNvPr id="63490" name="Picture 2" descr="http://images.emedicinehealth.com/images/eMedicineHealth/illustrations/Pancreas_07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53000" y="2895600"/>
            <a:ext cx="3581400" cy="35814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this System Relate to others?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smtClean="0"/>
              <a:t>The endocrine system works closely with the reproductive system and the digestive system.  Several hormones originate in the brain, part of the nervous system.</a:t>
            </a:r>
            <a:endParaRPr lang="en-US" sz="48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2609850"/>
          </a:xfrm>
        </p:spPr>
        <p:txBody>
          <a:bodyPr/>
          <a:lstStyle/>
          <a:p>
            <a:r>
              <a:rPr lang="en-US" dirty="0" smtClean="0"/>
              <a:t>Reproductive System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66800" y="4343400"/>
            <a:ext cx="6934200" cy="1752600"/>
          </a:xfrm>
        </p:spPr>
        <p:txBody>
          <a:bodyPr/>
          <a:lstStyle/>
          <a:p>
            <a:r>
              <a:rPr lang="en-US" dirty="0" smtClean="0"/>
              <a:t>On-Level Biology Book: Pages 995 – 1019</a:t>
            </a:r>
          </a:p>
          <a:p>
            <a:r>
              <a:rPr lang="en-US" dirty="0" smtClean="0"/>
              <a:t>Pre-AP Biology Book: Pages 1009 - 1029</a:t>
            </a:r>
          </a:p>
          <a:p>
            <a:endParaRPr lang="en-US" dirty="0"/>
          </a:p>
        </p:txBody>
      </p:sp>
      <p:pic>
        <p:nvPicPr>
          <p:cNvPr id="49156" name="Picture 4" descr="http://media.web.britannica.com/eb-media/31/94931-034-8F73200F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5490" y="0"/>
            <a:ext cx="7653020" cy="35052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Purpose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5400" dirty="0" smtClean="0"/>
              <a:t>The Reproductive System produces reproductive cells; in females nurtures and protects developing embryo</a:t>
            </a:r>
            <a:endParaRPr lang="en-US" sz="5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5791200" cy="5791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400" b="1" dirty="0" smtClean="0"/>
              <a:t>Males</a:t>
            </a:r>
          </a:p>
          <a:p>
            <a:r>
              <a:rPr lang="en-US" sz="3200" dirty="0" smtClean="0"/>
              <a:t>Penis</a:t>
            </a:r>
          </a:p>
          <a:p>
            <a:r>
              <a:rPr lang="en-US" sz="3200" dirty="0" smtClean="0"/>
              <a:t>Testes</a:t>
            </a:r>
          </a:p>
          <a:p>
            <a:pPr lvl="1"/>
            <a:r>
              <a:rPr lang="en-US" sz="2400" dirty="0" smtClean="0"/>
              <a:t>Site of sperm production</a:t>
            </a:r>
          </a:p>
          <a:p>
            <a:r>
              <a:rPr lang="en-US" sz="3200" dirty="0" smtClean="0"/>
              <a:t>Epididymis</a:t>
            </a:r>
          </a:p>
          <a:p>
            <a:pPr lvl="1"/>
            <a:r>
              <a:rPr lang="en-US" sz="2400" dirty="0" smtClean="0"/>
              <a:t>Where sperm mature</a:t>
            </a:r>
          </a:p>
          <a:p>
            <a:r>
              <a:rPr lang="en-US" sz="3200" dirty="0" smtClean="0"/>
              <a:t>Vas Deferens	</a:t>
            </a:r>
          </a:p>
          <a:p>
            <a:pPr lvl="1"/>
            <a:r>
              <a:rPr lang="en-US" sz="2400" dirty="0" smtClean="0"/>
              <a:t>Duct where mature sperm are stored before being transported to the urethra</a:t>
            </a:r>
          </a:p>
          <a:p>
            <a:r>
              <a:rPr lang="en-US" sz="3200" dirty="0" smtClean="0"/>
              <a:t>Urethra</a:t>
            </a:r>
          </a:p>
          <a:p>
            <a:pPr lvl="1"/>
            <a:r>
              <a:rPr lang="en-US" sz="2400" dirty="0" smtClean="0"/>
              <a:t>Transports sperm out of the male body</a:t>
            </a:r>
          </a:p>
        </p:txBody>
      </p:sp>
      <p:pic>
        <p:nvPicPr>
          <p:cNvPr id="4098" name="Picture 2" descr="http://medicalimages.allrefer.com/large/male-reproductive-anatomy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67200" y="792480"/>
            <a:ext cx="4876800" cy="3901441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Organs/Components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1143000"/>
            <a:ext cx="5029200" cy="57150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800" b="1" dirty="0" smtClean="0"/>
              <a:t>Females</a:t>
            </a:r>
          </a:p>
          <a:p>
            <a:r>
              <a:rPr lang="en-US" sz="3600" dirty="0" smtClean="0"/>
              <a:t>Ovaries</a:t>
            </a:r>
          </a:p>
          <a:p>
            <a:pPr lvl="1"/>
            <a:r>
              <a:rPr lang="en-US" sz="2800" dirty="0" smtClean="0"/>
              <a:t>Where eggs mature</a:t>
            </a:r>
          </a:p>
          <a:p>
            <a:r>
              <a:rPr lang="en-US" sz="3600" dirty="0" smtClean="0"/>
              <a:t>Fallopian Tubes</a:t>
            </a:r>
          </a:p>
          <a:p>
            <a:pPr lvl="1"/>
            <a:r>
              <a:rPr lang="en-US" sz="2800" dirty="0" smtClean="0"/>
              <a:t>Tube connecting ovaries to the uterus</a:t>
            </a:r>
          </a:p>
          <a:p>
            <a:r>
              <a:rPr lang="en-US" sz="3600" dirty="0" smtClean="0"/>
              <a:t>Uterus</a:t>
            </a:r>
          </a:p>
          <a:p>
            <a:pPr lvl="1"/>
            <a:r>
              <a:rPr lang="en-US" sz="2800" dirty="0" smtClean="0"/>
              <a:t>Where a fetus develops during pregnancy</a:t>
            </a:r>
          </a:p>
          <a:p>
            <a:r>
              <a:rPr lang="en-US" sz="3600" dirty="0" smtClean="0"/>
              <a:t>Vagina</a:t>
            </a:r>
          </a:p>
          <a:p>
            <a:pPr lvl="1"/>
            <a:r>
              <a:rPr lang="en-US" sz="2800" dirty="0" smtClean="0"/>
              <a:t>Canal  leading to the uterus</a:t>
            </a:r>
            <a:endParaRPr lang="en-US" sz="2800" dirty="0"/>
          </a:p>
        </p:txBody>
      </p:sp>
      <p:pic>
        <p:nvPicPr>
          <p:cNvPr id="65538" name="Picture 2" descr="http://nursingcrib.com/wp-content/uploads/adam-female-reproductive-system-thumb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905000"/>
            <a:ext cx="4310316" cy="35052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 smtClean="0"/>
              <a:t>How Does this System Relate to others?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smtClean="0"/>
              <a:t>The reproductive system works most closely with the endocrine system (hormones)</a:t>
            </a:r>
            <a:endParaRPr lang="en-US" sz="48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uman">
  <a:themeElements>
    <a:clrScheme name="Human">
      <a:dk1>
        <a:sysClr val="windowText" lastClr="000000"/>
      </a:dk1>
      <a:lt1>
        <a:sysClr val="window" lastClr="FFFFFF"/>
      </a:lt1>
      <a:dk2>
        <a:srgbClr val="795339"/>
      </a:dk2>
      <a:lt2>
        <a:srgbClr val="F7EEDD"/>
      </a:lt2>
      <a:accent1>
        <a:srgbClr val="AD2E27"/>
      </a:accent1>
      <a:accent2>
        <a:srgbClr val="3F3D66"/>
      </a:accent2>
      <a:accent3>
        <a:srgbClr val="17517A"/>
      </a:accent3>
      <a:accent4>
        <a:srgbClr val="877E48"/>
      </a:accent4>
      <a:accent5>
        <a:srgbClr val="AF8B1E"/>
      </a:accent5>
      <a:accent6>
        <a:srgbClr val="A35E21"/>
      </a:accent6>
      <a:hlink>
        <a:srgbClr val="9B7300"/>
      </a:hlink>
      <a:folHlink>
        <a:srgbClr val="D6A73B"/>
      </a:folHlink>
    </a:clrScheme>
    <a:fontScheme name="Human">
      <a:majorFont>
        <a:latin typeface="Candara"/>
        <a:ea typeface=""/>
        <a:cs typeface=""/>
        <a:font script="Jpan" typeface="ＭＳ Ｐゴシック"/>
        <a:font script="Hang" typeface="HY견명조"/>
        <a:font script="Hans" typeface="华文新魏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Human">
      <a:fillStyleLst>
        <a:solidFill>
          <a:schemeClr val="phClr"/>
        </a:solidFill>
        <a:gradFill>
          <a:gsLst>
            <a:gs pos="0">
              <a:schemeClr val="phClr">
                <a:tint val="30000"/>
                <a:satMod val="175000"/>
              </a:schemeClr>
            </a:gs>
            <a:gs pos="50000">
              <a:schemeClr val="phClr">
                <a:tint val="55000"/>
                <a:satMod val="200000"/>
              </a:schemeClr>
            </a:gs>
            <a:gs pos="70000">
              <a:schemeClr val="phClr">
                <a:tint val="70000"/>
                <a:satMod val="175000"/>
              </a:schemeClr>
            </a:gs>
            <a:gs pos="100000">
              <a:schemeClr val="phClr">
                <a:tint val="85000"/>
                <a:satMod val="175000"/>
              </a:schemeClr>
            </a:gs>
          </a:gsLst>
          <a:lin ang="8000000" scaled="1"/>
        </a:gradFill>
        <a:gradFill>
          <a:gsLst>
            <a:gs pos="0">
              <a:schemeClr val="phClr">
                <a:shade val="100000"/>
                <a:satMod val="140000"/>
              </a:schemeClr>
            </a:gs>
            <a:gs pos="40000">
              <a:schemeClr val="phClr">
                <a:shade val="65000"/>
                <a:satMod val="140000"/>
              </a:schemeClr>
            </a:gs>
            <a:gs pos="70000">
              <a:schemeClr val="phClr">
                <a:shade val="40000"/>
                <a:satMod val="115000"/>
              </a:schemeClr>
            </a:gs>
            <a:gs pos="100000">
              <a:schemeClr val="phClr">
                <a:shade val="20000"/>
                <a:satMod val="115000"/>
              </a:schemeClr>
            </a:gs>
          </a:gsLst>
          <a:lin ang="8000000" scaled="1"/>
        </a:gradFill>
      </a:fillStyleLst>
      <a:lnStyleLst>
        <a:ln w="5000" cap="rnd" cmpd="sng" algn="ctr">
          <a:solidFill>
            <a:schemeClr val="phClr"/>
          </a:solidFill>
          <a:prstDash val="solid"/>
        </a:ln>
        <a:ln w="12700" cap="rnd" cmpd="sng" algn="ctr">
          <a:solidFill>
            <a:schemeClr val="phClr"/>
          </a:solidFill>
          <a:prstDash val="solid"/>
        </a:ln>
        <a:ln w="2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9000" dist="25400" dir="9000000" rotWithShape="0">
              <a:srgbClr val="1A0000">
                <a:alpha val="35000"/>
              </a:srgbClr>
            </a:outerShdw>
          </a:effectLst>
        </a:effectStyle>
        <a:effectStyle>
          <a:effectLst>
            <a:outerShdw blurRad="39000" dist="25400" dir="9000000" rotWithShape="0">
              <a:srgbClr val="1A0000">
                <a:alpha val="40000"/>
              </a:srgbClr>
            </a:outerShdw>
          </a:effectLst>
        </a:effectStyle>
        <a:effectStyle>
          <a:effectLst>
            <a:outerShdw blurRad="39000" dist="25400" dir="90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rightRoom" dir="tr">
              <a:rot lat="0" lon="0" rev="3540000"/>
            </a:lightRig>
          </a:scene3d>
          <a:sp3d prstMaterial="matte">
            <a:bevelT w="190500" h="44450" prst="cross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275000"/>
              </a:schemeClr>
            </a:gs>
            <a:gs pos="3000">
              <a:schemeClr val="phClr">
                <a:tint val="87000"/>
                <a:satMod val="275000"/>
              </a:schemeClr>
            </a:gs>
            <a:gs pos="10000">
              <a:schemeClr val="phClr">
                <a:tint val="90000"/>
                <a:satMod val="275000"/>
              </a:schemeClr>
            </a:gs>
            <a:gs pos="70000">
              <a:schemeClr val="phClr">
                <a:shade val="38000"/>
                <a:satMod val="275000"/>
              </a:schemeClr>
            </a:gs>
            <a:gs pos="90000">
              <a:schemeClr val="phClr">
                <a:shade val="25000"/>
                <a:satMod val="300000"/>
              </a:schemeClr>
            </a:gs>
            <a:gs pos="100000">
              <a:schemeClr val="phClr">
                <a:shade val="22000"/>
                <a:satMod val="300000"/>
              </a:schemeClr>
            </a:gs>
          </a:gsLst>
          <a:path path="circle">
            <a:fillToRect l="60000" t="-3300" b="200000"/>
          </a:path>
        </a:gradFill>
        <a:gradFill rotWithShape="1">
          <a:gsLst>
            <a:gs pos="0">
              <a:schemeClr val="phClr">
                <a:tint val="57000"/>
                <a:satMod val="400000"/>
              </a:schemeClr>
            </a:gs>
            <a:gs pos="100000">
              <a:schemeClr val="phClr">
                <a:tint val="87000"/>
                <a:shade val="40000"/>
                <a:satMod val="5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Human</Template>
  <TotalTime>773</TotalTime>
  <Words>1601</Words>
  <Application>Microsoft Office PowerPoint</Application>
  <PresentationFormat>On-screen Show (4:3)</PresentationFormat>
  <Paragraphs>278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Human</vt:lpstr>
      <vt:lpstr>Human Body Systems</vt:lpstr>
      <vt:lpstr>Digestive System</vt:lpstr>
      <vt:lpstr>Purpose</vt:lpstr>
      <vt:lpstr>Organs/Components</vt:lpstr>
      <vt:lpstr>Organs/Components</vt:lpstr>
      <vt:lpstr>Organs/Components</vt:lpstr>
      <vt:lpstr>How Does this System Relate to others?</vt:lpstr>
      <vt:lpstr>Excretory System</vt:lpstr>
      <vt:lpstr>Purpose</vt:lpstr>
      <vt:lpstr>Organs/Components</vt:lpstr>
      <vt:lpstr>How Does this System Relate to others?</vt:lpstr>
      <vt:lpstr>Respiratory System</vt:lpstr>
      <vt:lpstr>Purpose</vt:lpstr>
      <vt:lpstr>Organs/Components</vt:lpstr>
      <vt:lpstr>Organs/Components</vt:lpstr>
      <vt:lpstr>How Does this System Relate to others?</vt:lpstr>
      <vt:lpstr>Circulatory System</vt:lpstr>
      <vt:lpstr>Purpose</vt:lpstr>
      <vt:lpstr>Organs/Components</vt:lpstr>
      <vt:lpstr>How Does this System Relate to others?</vt:lpstr>
      <vt:lpstr>Skeletal System</vt:lpstr>
      <vt:lpstr>Purpose</vt:lpstr>
      <vt:lpstr>Organs/Components</vt:lpstr>
      <vt:lpstr>How Does this System Relate to others?</vt:lpstr>
      <vt:lpstr>Muscular System</vt:lpstr>
      <vt:lpstr>Purpose</vt:lpstr>
      <vt:lpstr>Organs/Components</vt:lpstr>
      <vt:lpstr>How Does this System Relate to others?</vt:lpstr>
      <vt:lpstr>Nervous System</vt:lpstr>
      <vt:lpstr>Purpose</vt:lpstr>
      <vt:lpstr>Organs/Components</vt:lpstr>
      <vt:lpstr>Organs/Components</vt:lpstr>
      <vt:lpstr>How Does this System Relate to others?</vt:lpstr>
      <vt:lpstr>Integumentary System</vt:lpstr>
      <vt:lpstr>Purpose</vt:lpstr>
      <vt:lpstr>Organs/Components</vt:lpstr>
      <vt:lpstr>How Does this System Relate to others?</vt:lpstr>
      <vt:lpstr>Immune System</vt:lpstr>
      <vt:lpstr>Purpose</vt:lpstr>
      <vt:lpstr>Organs/Components</vt:lpstr>
      <vt:lpstr>How Does this System Relate to others?</vt:lpstr>
      <vt:lpstr>Endocrine System</vt:lpstr>
      <vt:lpstr>Purpose</vt:lpstr>
      <vt:lpstr>Organs/Components</vt:lpstr>
      <vt:lpstr>Organs/Components</vt:lpstr>
      <vt:lpstr>Organs/Components</vt:lpstr>
      <vt:lpstr>Organs/Components</vt:lpstr>
      <vt:lpstr>How Does this System Relate to others?</vt:lpstr>
      <vt:lpstr>Reproductive System</vt:lpstr>
      <vt:lpstr>Purpose</vt:lpstr>
      <vt:lpstr>Organs/Components</vt:lpstr>
      <vt:lpstr>Organs/Components</vt:lpstr>
      <vt:lpstr>How Does this System Relate to others?</vt:lpstr>
    </vt:vector>
  </TitlesOfParts>
  <Company>Birdville ISD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Body Systems</dc:title>
  <dc:creator>Internal User</dc:creator>
  <cp:lastModifiedBy>dganci</cp:lastModifiedBy>
  <cp:revision>79</cp:revision>
  <dcterms:created xsi:type="dcterms:W3CDTF">2012-04-12T15:16:59Z</dcterms:created>
  <dcterms:modified xsi:type="dcterms:W3CDTF">2016-06-06T12:22:20Z</dcterms:modified>
</cp:coreProperties>
</file>